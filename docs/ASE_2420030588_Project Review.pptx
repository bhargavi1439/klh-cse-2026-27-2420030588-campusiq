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2" r:id="rId3"/>
    <p:sldId id="904" r:id="rId5"/>
    <p:sldId id="257" r:id="rId6"/>
    <p:sldId id="903"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227863A-4956-4659-9192-3D74DA4F757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27863A-4956-4659-9192-3D74DA4F757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227863A-4956-4659-9192-3D74DA4F757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227863A-4956-4659-9192-3D74DA4F757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227863A-4956-4659-9192-3D74DA4F757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227863A-4956-4659-9192-3D74DA4F757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7863A-4956-4659-9192-3D74DA4F757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7863A-4956-4659-9192-3D74DA4F757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7863A-4956-4659-9192-3D74DA4F757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27863A-4956-4659-9192-3D74DA4F757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27863A-4956-4659-9192-3D74DA4F757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234F-78F1-4984-9C4D-D4C7AB58787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nvGraphicFramePr>
        <p:xfrm>
          <a:off x="7903210" y="4192270"/>
          <a:ext cx="3914140" cy="1280160"/>
        </p:xfrm>
        <a:graphic>
          <a:graphicData uri="http://schemas.openxmlformats.org/drawingml/2006/table">
            <a:tbl>
              <a:tblPr firstRow="1" bandRow="1">
                <a:tableStyleId>{5940675A-B579-460E-94D1-54222C63F5DA}</a:tableStyleId>
              </a:tblPr>
              <a:tblGrid>
                <a:gridCol w="3914140"/>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600" b="1" dirty="0">
                          <a:solidFill>
                            <a:srgbClr val="C00000"/>
                          </a:solidFill>
                          <a:latin typeface="Times New Roman" panose="02020603050405020304" pitchFamily="18" charset="0"/>
                          <a:cs typeface="Times New Roman" panose="02020603050405020304" pitchFamily="18" charset="0"/>
                        </a:rPr>
                        <a:t>Team Members</a:t>
                      </a:r>
                      <a:endParaRPr lang="en-IN" sz="1600" b="1" dirty="0">
                        <a:solidFill>
                          <a:srgbClr val="C00000"/>
                        </a:solidFill>
                        <a:latin typeface="Times New Roman" panose="02020603050405020304" pitchFamily="18" charset="0"/>
                        <a:cs typeface="Times New Roman" panose="02020603050405020304" pitchFamily="18" charset="0"/>
                      </a:endParaRPr>
                    </a:p>
                    <a:p>
                      <a:pPr marL="0" algn="l" defTabSz="914400" rtl="0" eaLnBrk="1" latinLnBrk="0" hangingPunct="1"/>
                      <a:r>
                        <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rPr>
                        <a:t>Bhargavi Devi - 2420030588</a:t>
                      </a:r>
                      <a:endPar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endParaRPr>
                    </a:p>
                    <a:p>
                      <a:pPr marL="0" algn="l" defTabSz="914400" rtl="0" eaLnBrk="1" latinLnBrk="0" hangingPunct="1"/>
                      <a:r>
                        <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rPr>
                        <a:t>Pranathi - 2420030043</a:t>
                      </a:r>
                      <a:endPar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endParaRPr>
                    </a:p>
                    <a:p>
                      <a:pPr marL="0" algn="l" defTabSz="914400" rtl="0" eaLnBrk="1" latinLnBrk="0" hangingPunct="1"/>
                      <a:r>
                        <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rPr>
                        <a:t>Chaithanya - 2420090077</a:t>
                      </a:r>
                      <a:endPar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endParaRPr>
                    </a:p>
                    <a:p>
                      <a:pPr marL="0" algn="l" defTabSz="914400" rtl="0" eaLnBrk="1" latinLnBrk="0" hangingPunct="1"/>
                      <a:r>
                        <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rPr>
                        <a:t>Mahathi - 2420030093</a:t>
                      </a:r>
                      <a:endParaRPr lang="en-US" altLang="en-IN" sz="1600" b="1" kern="1200" dirty="0">
                        <a:solidFill>
                          <a:schemeClr val="dk1"/>
                        </a:solidFill>
                        <a:latin typeface="Times New Roman" panose="02020603050405020304" pitchFamily="18" charset="0"/>
                        <a:ea typeface="Cambria" panose="02040503050406030204"/>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bl>
          </a:graphicData>
        </a:graphic>
      </p:graphicFrame>
      <p:grpSp>
        <p:nvGrpSpPr>
          <p:cNvPr id="21" name="Group 20"/>
          <p:cNvGrpSpPr/>
          <p:nvPr/>
        </p:nvGrpSpPr>
        <p:grpSpPr>
          <a:xfrm>
            <a:off x="7903025" y="3805438"/>
            <a:ext cx="230240" cy="232995"/>
            <a:chOff x="1567861" y="1613059"/>
            <a:chExt cx="230240" cy="232995"/>
          </a:xfrm>
          <a:solidFill>
            <a:srgbClr val="FF66FF"/>
          </a:solidFill>
        </p:grpSpPr>
        <p:sp>
          <p:nvSpPr>
            <p:cNvPr id="22" name="Isosceles Triangle 2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p:cNvGraphicFramePr>
            <a:graphicFrameLocks noGrp="1"/>
          </p:cNvGraphicFramePr>
          <p:nvPr>
            <p:custDataLst>
              <p:tags r:id="rId1"/>
            </p:custDataLst>
          </p:nvPr>
        </p:nvGraphicFramePr>
        <p:xfrm>
          <a:off x="-561340" y="4298315"/>
          <a:ext cx="5902325" cy="1398905"/>
        </p:xfrm>
        <a:graphic>
          <a:graphicData uri="http://schemas.openxmlformats.org/drawingml/2006/table">
            <a:tbl>
              <a:tblPr firstRow="1" bandRow="1">
                <a:tableStyleId>{5940675A-B579-460E-94D1-54222C63F5DA}</a:tableStyleId>
              </a:tblPr>
              <a:tblGrid>
                <a:gridCol w="1373505"/>
                <a:gridCol w="4528820"/>
              </a:tblGrid>
              <a:tr h="1398905">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endParaRPr lang="en-IN" sz="1600" b="1" dirty="0">
                        <a:solidFill>
                          <a:srgbClr val="C00000"/>
                        </a:solidFill>
                        <a:latin typeface="Times New Roman" panose="02020603050405020304" pitchFamily="18" charset="0"/>
                        <a:cs typeface="Times New Roman" panose="02020603050405020304" pitchFamily="18" charset="0"/>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Professor</a:t>
                      </a:r>
                      <a:endPar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endParaRPr>
                    </a:p>
                    <a:p>
                      <a:pPr marL="0" indent="0" algn="l">
                        <a:lnSpc>
                          <a:spcPct val="100000"/>
                        </a:lnSpc>
                        <a:spcBef>
                          <a:spcPts val="200"/>
                        </a:spcBef>
                        <a:buSzPts val="810"/>
                        <a:buNone/>
                      </a:pPr>
                      <a:r>
                        <a:rPr lang="en-US" alt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Lavanya Gottumukkala</a:t>
                      </a:r>
                      <a:r>
                        <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 </a:t>
                      </a:r>
                      <a:endPar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endParaRP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Department of </a:t>
                      </a:r>
                      <a:r>
                        <a:rPr lang="en-US" sz="1400" b="1" dirty="0">
                          <a:solidFill>
                            <a:prstClr val="black"/>
                          </a:solidFill>
                          <a:latin typeface="Times New Roman" panose="02020603050405020304" pitchFamily="18" charset="0"/>
                          <a:ea typeface="Cambria" panose="02040503050406030204"/>
                          <a:cs typeface="Times New Roman" panose="02020603050405020304" pitchFamily="18" charset="0"/>
                          <a:sym typeface="Cambria" panose="02040503050406030204"/>
                        </a:rPr>
                        <a:t>Computer Science and Engineering, </a:t>
                      </a:r>
                      <a:endParaRPr lang="en-US" sz="1400" b="1" dirty="0">
                        <a:solidFill>
                          <a:prstClr val="black"/>
                        </a:solidFill>
                        <a:latin typeface="Times New Roman" panose="02020603050405020304" pitchFamily="18" charset="0"/>
                        <a:ea typeface="Cambria" panose="02040503050406030204"/>
                        <a:cs typeface="Times New Roman" panose="02020603050405020304" pitchFamily="18" charset="0"/>
                        <a:sym typeface="Cambria" panose="02040503050406030204"/>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Cambria" panose="02040503050406030204"/>
                        </a:rPr>
                        <a:t>KLH CSE Bowrampet Campus</a:t>
                      </a:r>
                      <a:endParaRPr lang="en-US" sz="1400" dirty="0">
                        <a:solidFill>
                          <a:schemeClr val="dk1"/>
                        </a:solidFill>
                        <a:latin typeface="Times New Roman" panose="02020603050405020304" pitchFamily="18" charset="0"/>
                        <a:ea typeface="Cambria" panose="02040503050406030204"/>
                        <a:cs typeface="Times New Roman" panose="02020603050405020304" pitchFamily="18" charset="0"/>
                        <a:sym typeface="Arial" panose="020B0604020202020204"/>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grpSp>
        <p:nvGrpSpPr>
          <p:cNvPr id="31" name="Group 30"/>
          <p:cNvGrpSpPr/>
          <p:nvPr/>
        </p:nvGrpSpPr>
        <p:grpSpPr>
          <a:xfrm>
            <a:off x="742874" y="3998667"/>
            <a:ext cx="230240" cy="232995"/>
            <a:chOff x="1567861" y="1613059"/>
            <a:chExt cx="230240" cy="232995"/>
          </a:xfrm>
          <a:solidFill>
            <a:srgbClr val="00B0F0"/>
          </a:solidFill>
        </p:grpSpPr>
        <p:sp>
          <p:nvSpPr>
            <p:cNvPr id="32" name="Isosceles Triangle 31"/>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6" name="Slide Number Placeholder 35"/>
          <p:cNvSpPr>
            <a:spLocks noGrp="1"/>
          </p:cNvSpPr>
          <p:nvPr>
            <p:ph type="sldNum" sz="quarter" idx="12"/>
          </p:nvPr>
        </p:nvSpPr>
        <p:spPr/>
        <p:txBody>
          <a:bodyPr/>
          <a:lstStyle/>
          <a:p>
            <a:fld id="{01AD1135-6E10-4422-AC8B-257B84239C9C}" type="slidenum">
              <a:rPr lang="en-IN" smtClean="0"/>
            </a:fld>
            <a:endParaRPr lang="en-IN" dirty="0"/>
          </a:p>
        </p:txBody>
      </p:sp>
      <p:sp>
        <p:nvSpPr>
          <p:cNvPr id="4" name="Rectangle: Rounded Corners 3"/>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0249380" y="0"/>
            <a:ext cx="1942620" cy="622550"/>
          </a:xfrm>
          <a:prstGeom prst="rect">
            <a:avLst/>
          </a:prstGeom>
        </p:spPr>
      </p:pic>
      <p:sp>
        <p:nvSpPr>
          <p:cNvPr id="2" name="Text Box 1"/>
          <p:cNvSpPr txBox="1"/>
          <p:nvPr/>
        </p:nvSpPr>
        <p:spPr>
          <a:xfrm>
            <a:off x="1678940" y="1062355"/>
            <a:ext cx="8998585" cy="398780"/>
          </a:xfrm>
          <a:prstGeom prst="rect">
            <a:avLst/>
          </a:prstGeom>
        </p:spPr>
        <p:txBody>
          <a:bodyPr wrap="square">
            <a:spAutoFit/>
          </a:bodyPr>
          <a:p>
            <a:r>
              <a:rPr sz="2000" b="1">
                <a:solidFill>
                  <a:schemeClr val="bg1"/>
                </a:solidFill>
              </a:rPr>
              <a:t>CAMPUS IQ – Intelligent Resource Management for Smart Campuses</a:t>
            </a:r>
            <a:endParaRPr sz="2000" b="1">
              <a:solidFill>
                <a:schemeClr val="bg1"/>
              </a:solidFill>
            </a:endParaRPr>
          </a:p>
        </p:txBody>
      </p:sp>
      <p:sp>
        <p:nvSpPr>
          <p:cNvPr id="3" name="Date Placeholder 2"/>
          <p:cNvSpPr>
            <a:spLocks noGrp="1"/>
          </p:cNvSpPr>
          <p:nvPr>
            <p:ph type="dt" sz="half" idx="10"/>
          </p:nvPr>
        </p:nvSpPr>
        <p:spPr>
          <a:xfrm>
            <a:off x="3536950" y="2696845"/>
            <a:ext cx="4773295" cy="365125"/>
          </a:xfrm>
        </p:spPr>
        <p:txBody>
          <a:bodyPr/>
          <a:lstStyle/>
          <a:p>
            <a:pPr algn="ctr"/>
            <a:r>
              <a:rPr lang="en-US" altLang="en-IN" sz="2400" b="1" dirty="0">
                <a:solidFill>
                  <a:schemeClr val="tx1"/>
                </a:solidFill>
              </a:rPr>
              <a:t>Ase Project Review 2</a:t>
            </a:r>
            <a:endParaRPr lang="en-US" altLang="en-IN" sz="24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
          <p:cNvSpPr txBox="1"/>
          <p:nvPr/>
        </p:nvSpPr>
        <p:spPr>
          <a:xfrm>
            <a:off x="2477135" y="725709"/>
            <a:ext cx="6096000" cy="645160"/>
          </a:xfrm>
          <a:prstGeom prst="rect">
            <a:avLst/>
          </a:prstGeom>
          <a:noFill/>
        </p:spPr>
        <p:txBody>
          <a:bodyPr wrap="square">
            <a:spAutoFit/>
          </a:bodyPr>
          <a:lstStyle/>
          <a:p>
            <a:pPr algn="ctr"/>
            <a:r>
              <a:rPr lang="en-US" sz="3600" b="1" dirty="0"/>
              <a:t>Abstract</a:t>
            </a:r>
            <a:endParaRPr lang="en-US" sz="3600" b="1" dirty="0"/>
          </a:p>
        </p:txBody>
      </p:sp>
      <p:sp>
        <p:nvSpPr>
          <p:cNvPr id="4" name="Text Box 3"/>
          <p:cNvSpPr txBox="1"/>
          <p:nvPr/>
        </p:nvSpPr>
        <p:spPr>
          <a:xfrm>
            <a:off x="1000125" y="1999615"/>
            <a:ext cx="10341610" cy="2999740"/>
          </a:xfrm>
          <a:prstGeom prst="rect">
            <a:avLst/>
          </a:prstGeom>
          <a:noFill/>
        </p:spPr>
        <p:txBody>
          <a:bodyPr wrap="square" rtlCol="0" anchor="t">
            <a:spAutoFit/>
          </a:bodyPr>
          <a:p>
            <a:pPr>
              <a:lnSpc>
                <a:spcPct val="150000"/>
              </a:lnSpc>
            </a:pPr>
            <a:r>
              <a:rPr lang="en-US" altLang="en-US">
                <a:sym typeface="+mn-ea"/>
              </a:rPr>
              <a:t>Campus IQ is an intelligent resource management system designed to improve the utilization of resources in smart campuses. It manages resources such as classrooms, laboratories, computers, equipment, electricity, library facilities, and other infrastructure. The system collects campus data, stores it in a database, processes it using Python/Django, and analyzes resource usage using AI techniques. Based on the analysis, the system provides intelligent recommendations for better resource allocation. An admin dashboard helps administrators monitor usage and make informed decisions for efficient campus management.</a:t>
            </a:r>
            <a:endParaRPr lang="en-US" altLang="en-U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57762" y="622567"/>
            <a:ext cx="6096000" cy="645160"/>
          </a:xfrm>
          <a:prstGeom prst="rect">
            <a:avLst/>
          </a:prstGeom>
          <a:noFill/>
        </p:spPr>
        <p:txBody>
          <a:bodyPr wrap="square">
            <a:spAutoFit/>
          </a:bodyPr>
          <a:lstStyle/>
          <a:p>
            <a:pPr algn="ctr"/>
            <a:r>
              <a:rPr lang="en-US" sz="3600" b="1" dirty="0"/>
              <a:t>Problem Statement</a:t>
            </a:r>
            <a:endParaRPr lang="en-US" sz="3600" b="1" dirty="0"/>
          </a:p>
        </p:txBody>
      </p:sp>
      <p:pic>
        <p:nvPicPr>
          <p:cNvPr id="3" name="Picture 2"/>
          <p:cNvPicPr>
            <a:picLocks noChangeAspect="1"/>
          </p:cNvPicPr>
          <p:nvPr/>
        </p:nvPicPr>
        <p:blipFill>
          <a:blip r:embed="rId1"/>
          <a:stretch>
            <a:fillRect/>
          </a:stretch>
        </p:blipFill>
        <p:spPr>
          <a:xfrm>
            <a:off x="10249380" y="0"/>
            <a:ext cx="1942620" cy="622550"/>
          </a:xfrm>
          <a:prstGeom prst="rect">
            <a:avLst/>
          </a:prstGeom>
        </p:spPr>
      </p:pic>
      <p:sp>
        <p:nvSpPr>
          <p:cNvPr id="4" name="Text Box 3"/>
          <p:cNvSpPr txBox="1"/>
          <p:nvPr/>
        </p:nvSpPr>
        <p:spPr>
          <a:xfrm>
            <a:off x="1492885" y="1980565"/>
            <a:ext cx="8670290" cy="2999740"/>
          </a:xfrm>
          <a:prstGeom prst="rect">
            <a:avLst/>
          </a:prstGeom>
        </p:spPr>
        <p:txBody>
          <a:bodyPr wrap="square">
            <a:spAutoFit/>
          </a:bodyPr>
          <a:p>
            <a:pPr>
              <a:lnSpc>
                <a:spcPct val="150000"/>
              </a:lnSpc>
            </a:pPr>
            <a:r>
              <a:t>Educational institutions manage a large number of resources such as classrooms, laboratories, equipment, computers, electricity, and library facilities. Traditional resource management is often manual and may result in underutilization, overutilization, resource conflicts, and inefficient allocation.</a:t>
            </a:r>
          </a:p>
          <a:p>
            <a:pPr>
              <a:lnSpc>
                <a:spcPct val="150000"/>
              </a:lnSpc>
            </a:pPr>
            <a:r>
              <a:t>Campus IQ aims to solve these problems by collecting and analyzing campus resource data and providing AI-based recommendations for efficient resource utilization</a:t>
            </a:r>
            <a:r>
              <a:rPr sz="1600"/>
              <a:t>.</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0" y="469169"/>
            <a:ext cx="6096000" cy="646331"/>
          </a:xfrm>
          <a:prstGeom prst="rect">
            <a:avLst/>
          </a:prstGeom>
          <a:noFill/>
        </p:spPr>
        <p:txBody>
          <a:bodyPr wrap="square">
            <a:spAutoFit/>
          </a:bodyPr>
          <a:lstStyle/>
          <a:p>
            <a:pPr algn="ctr"/>
            <a:r>
              <a:rPr lang="en-US" sz="3600" b="1" dirty="0"/>
              <a:t>Objectives</a:t>
            </a:r>
            <a:endParaRPr lang="en-US" sz="3600" b="1" dirty="0"/>
          </a:p>
        </p:txBody>
      </p:sp>
      <p:pic>
        <p:nvPicPr>
          <p:cNvPr id="3" name="Picture 2"/>
          <p:cNvPicPr>
            <a:picLocks noChangeAspect="1"/>
          </p:cNvPicPr>
          <p:nvPr/>
        </p:nvPicPr>
        <p:blipFill>
          <a:blip r:embed="rId1"/>
          <a:stretch>
            <a:fillRect/>
          </a:stretch>
        </p:blipFill>
        <p:spPr>
          <a:xfrm>
            <a:off x="10249380" y="0"/>
            <a:ext cx="1942620" cy="622550"/>
          </a:xfrm>
          <a:prstGeom prst="rect">
            <a:avLst/>
          </a:prstGeom>
        </p:spPr>
      </p:pic>
      <p:sp>
        <p:nvSpPr>
          <p:cNvPr id="2" name="Text Box 1"/>
          <p:cNvSpPr txBox="1"/>
          <p:nvPr/>
        </p:nvSpPr>
        <p:spPr>
          <a:xfrm>
            <a:off x="1022985" y="1983105"/>
            <a:ext cx="10247630" cy="2999740"/>
          </a:xfrm>
          <a:prstGeom prst="rect">
            <a:avLst/>
          </a:prstGeom>
        </p:spPr>
        <p:txBody>
          <a:bodyPr wrap="square">
            <a:spAutoFit/>
          </a:bodyPr>
          <a:p>
            <a:pPr marL="285750" indent="-285750">
              <a:lnSpc>
                <a:spcPct val="150000"/>
              </a:lnSpc>
              <a:buFont typeface="Arial" panose="020B0604020202020204" pitchFamily="34" charset="0"/>
              <a:buChar char="•"/>
            </a:pPr>
            <a:r>
              <a:rPr lang="en-US"/>
              <a:t> </a:t>
            </a:r>
            <a:r>
              <a:t>To develop a centralized system for managing campus resources.</a:t>
            </a:r>
          </a:p>
          <a:p>
            <a:pPr marL="285750" indent="-285750">
              <a:lnSpc>
                <a:spcPct val="150000"/>
              </a:lnSpc>
              <a:buFont typeface="Arial" panose="020B0604020202020204" pitchFamily="34" charset="0"/>
              <a:buChar char="•"/>
            </a:pPr>
            <a:r>
              <a:t> To collect and store information about campus resources and their usage. </a:t>
            </a:r>
          </a:p>
          <a:p>
            <a:pPr marL="285750" indent="-285750">
              <a:lnSpc>
                <a:spcPct val="150000"/>
              </a:lnSpc>
              <a:buFont typeface="Arial" panose="020B0604020202020204" pitchFamily="34" charset="0"/>
              <a:buChar char="•"/>
            </a:pPr>
            <a:r>
              <a:t> To analyze resource availability, occupancy, usage, and energy consumption. </a:t>
            </a:r>
          </a:p>
          <a:p>
            <a:pPr marL="285750" indent="-285750">
              <a:lnSpc>
                <a:spcPct val="150000"/>
              </a:lnSpc>
              <a:buFont typeface="Arial" panose="020B0604020202020204" pitchFamily="34" charset="0"/>
              <a:buChar char="•"/>
            </a:pPr>
            <a:r>
              <a:t> To identify inefficient or underutilized resources. </a:t>
            </a:r>
          </a:p>
          <a:p>
            <a:pPr marL="285750" indent="-285750">
              <a:lnSpc>
                <a:spcPct val="150000"/>
              </a:lnSpc>
              <a:buFont typeface="Arial" panose="020B0604020202020204" pitchFamily="34" charset="0"/>
              <a:buChar char="•"/>
            </a:pPr>
            <a:r>
              <a:t> To provide AI-based recommendations for better resource allocation. </a:t>
            </a:r>
          </a:p>
          <a:p>
            <a:pPr marL="285750" indent="-285750">
              <a:lnSpc>
                <a:spcPct val="150000"/>
              </a:lnSpc>
              <a:buFont typeface="Arial" panose="020B0604020202020204" pitchFamily="34" charset="0"/>
              <a:buChar char="•"/>
            </a:pPr>
            <a:r>
              <a:t> To provide an admin dashboard for monitoring campus resources. </a:t>
            </a:r>
          </a:p>
          <a:p>
            <a:pPr marL="285750" indent="-285750">
              <a:lnSpc>
                <a:spcPct val="150000"/>
              </a:lnSpc>
              <a:buFont typeface="Arial" panose="020B0604020202020204" pitchFamily="34" charset="0"/>
              <a:buChar char="•"/>
            </a:pPr>
            <a:r>
              <a:t> To support efficient and smarter campus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0" y="421643"/>
            <a:ext cx="6096000" cy="645160"/>
          </a:xfrm>
          <a:prstGeom prst="rect">
            <a:avLst/>
          </a:prstGeom>
          <a:noFill/>
        </p:spPr>
        <p:txBody>
          <a:bodyPr wrap="square">
            <a:spAutoFit/>
          </a:bodyPr>
          <a:lstStyle/>
          <a:p>
            <a:pPr algn="ctr"/>
            <a:r>
              <a:rPr lang="en-US" sz="3600" b="1" dirty="0"/>
              <a:t>Work Flow</a:t>
            </a:r>
            <a:endParaRPr lang="en-US" sz="3600" b="1" dirty="0"/>
          </a:p>
        </p:txBody>
      </p:sp>
      <p:pic>
        <p:nvPicPr>
          <p:cNvPr id="3" name="Picture 2"/>
          <p:cNvPicPr>
            <a:picLocks noChangeAspect="1"/>
          </p:cNvPicPr>
          <p:nvPr/>
        </p:nvPicPr>
        <p:blipFill>
          <a:blip r:embed="rId1"/>
          <a:stretch>
            <a:fillRect/>
          </a:stretch>
        </p:blipFill>
        <p:spPr>
          <a:xfrm>
            <a:off x="10249380" y="0"/>
            <a:ext cx="1942620" cy="622550"/>
          </a:xfrm>
          <a:prstGeom prst="rect">
            <a:avLst/>
          </a:prstGeom>
        </p:spPr>
      </p:pic>
      <p:pic>
        <p:nvPicPr>
          <p:cNvPr id="2" name="Picture 1"/>
          <p:cNvPicPr>
            <a:picLocks noChangeAspect="1"/>
          </p:cNvPicPr>
          <p:nvPr/>
        </p:nvPicPr>
        <p:blipFill>
          <a:blip r:embed="rId2"/>
          <a:stretch>
            <a:fillRect/>
          </a:stretch>
        </p:blipFill>
        <p:spPr>
          <a:xfrm>
            <a:off x="1307465" y="1245235"/>
            <a:ext cx="9961245" cy="5371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43530" y="458766"/>
            <a:ext cx="8405879" cy="645160"/>
          </a:xfrm>
          <a:prstGeom prst="rect">
            <a:avLst/>
          </a:prstGeom>
          <a:noFill/>
        </p:spPr>
        <p:txBody>
          <a:bodyPr wrap="square">
            <a:spAutoFit/>
          </a:bodyPr>
          <a:lstStyle/>
          <a:p>
            <a:pPr algn="ctr"/>
            <a:r>
              <a:rPr lang="en-US" sz="3600" b="1" dirty="0"/>
              <a:t>Tecnology Stack</a:t>
            </a:r>
            <a:endParaRPr lang="en-US" sz="3600" b="1" dirty="0"/>
          </a:p>
        </p:txBody>
      </p:sp>
      <p:pic>
        <p:nvPicPr>
          <p:cNvPr id="3" name="Picture 2"/>
          <p:cNvPicPr>
            <a:picLocks noChangeAspect="1"/>
          </p:cNvPicPr>
          <p:nvPr/>
        </p:nvPicPr>
        <p:blipFill>
          <a:blip r:embed="rId1"/>
          <a:stretch>
            <a:fillRect/>
          </a:stretch>
        </p:blipFill>
        <p:spPr>
          <a:xfrm>
            <a:off x="10249380" y="0"/>
            <a:ext cx="1942620" cy="622550"/>
          </a:xfrm>
          <a:prstGeom prst="rect">
            <a:avLst/>
          </a:prstGeom>
        </p:spPr>
      </p:pic>
      <p:graphicFrame>
        <p:nvGraphicFramePr>
          <p:cNvPr id="4" name="Table 3"/>
          <p:cNvGraphicFramePr/>
          <p:nvPr>
            <p:custDataLst>
              <p:tags r:id="rId2"/>
            </p:custDataLst>
          </p:nvPr>
        </p:nvGraphicFramePr>
        <p:xfrm>
          <a:off x="1748155" y="1783080"/>
          <a:ext cx="9000490" cy="3772535"/>
        </p:xfrm>
        <a:graphic>
          <a:graphicData uri="http://schemas.openxmlformats.org/drawingml/2006/table">
            <a:tbl>
              <a:tblPr>
                <a:tableStyleId>{69CF1AB2-1976-4502-BF36-3FF5EA218861}</a:tableStyleId>
              </a:tblPr>
              <a:tblGrid>
                <a:gridCol w="4128770"/>
                <a:gridCol w="4871720"/>
              </a:tblGrid>
              <a:tr h="756920">
                <a:tc>
                  <a:txBody>
                    <a:bodyPr/>
                    <a:p>
                      <a:pPr algn="ctr"/>
                      <a:r>
                        <a:rPr sz="2400"/>
                        <a:t>Component</a:t>
                      </a:r>
                      <a:endParaRPr sz="2400"/>
                    </a:p>
                    <a:p>
                      <a:pPr algn="ctr"/>
                      <a:endParaRPr sz="2400"/>
                    </a:p>
                  </a:txBody>
                  <a:tcPr marL="0" marR="0" marT="0" marB="0" anchor="ctr" anchorCtr="0"/>
                </a:tc>
                <a:tc>
                  <a:txBody>
                    <a:bodyPr/>
                    <a:p>
                      <a:pPr algn="ctr"/>
                      <a:r>
                        <a:rPr sz="2400"/>
                        <a:t>Technology</a:t>
                      </a:r>
                      <a:endParaRPr sz="2400"/>
                    </a:p>
                    <a:p>
                      <a:pPr algn="ctr"/>
                      <a:endParaRPr sz="2400"/>
                    </a:p>
                  </a:txBody>
                  <a:tcPr marL="0" marR="0" marT="0" marB="0" anchor="ctr" anchorCtr="0"/>
                </a:tc>
              </a:tr>
              <a:tr h="349885">
                <a:tc>
                  <a:txBody>
                    <a:bodyPr/>
                    <a:p>
                      <a:r>
                        <a:rPr sz="2400"/>
                        <a:t>Frontend</a:t>
                      </a:r>
                      <a:endParaRPr sz="2400"/>
                    </a:p>
                  </a:txBody>
                  <a:tcPr marL="0" marR="0" marT="0" marB="0" anchor="ctr" anchorCtr="0"/>
                </a:tc>
                <a:tc>
                  <a:txBody>
                    <a:bodyPr/>
                    <a:p>
                      <a:r>
                        <a:rPr sz="2400"/>
                        <a:t>HTML, CSS, JavaScript / React</a:t>
                      </a:r>
                      <a:endParaRPr sz="2400"/>
                    </a:p>
                  </a:txBody>
                  <a:tcPr marL="0" marR="0" marT="0" marB="0" anchor="ctr" anchorCtr="0"/>
                </a:tc>
              </a:tr>
              <a:tr h="378460">
                <a:tc>
                  <a:txBody>
                    <a:bodyPr/>
                    <a:p>
                      <a:r>
                        <a:rPr sz="2400"/>
                        <a:t>Backend</a:t>
                      </a:r>
                      <a:endParaRPr sz="2400"/>
                    </a:p>
                  </a:txBody>
                  <a:tcPr marL="0" marR="0" marT="0" marB="0" anchor="ctr" anchorCtr="0"/>
                </a:tc>
                <a:tc>
                  <a:txBody>
                    <a:bodyPr/>
                    <a:p>
                      <a:r>
                        <a:rPr sz="2400"/>
                        <a:t>Python – Django</a:t>
                      </a:r>
                      <a:endParaRPr sz="2400"/>
                    </a:p>
                  </a:txBody>
                  <a:tcPr marL="0" marR="0" marT="0" marB="0" anchor="ctr" anchorCtr="0"/>
                </a:tc>
              </a:tr>
              <a:tr h="379095">
                <a:tc>
                  <a:txBody>
                    <a:bodyPr/>
                    <a:p>
                      <a:r>
                        <a:rPr sz="2400"/>
                        <a:t>Database</a:t>
                      </a:r>
                      <a:endParaRPr sz="2400"/>
                    </a:p>
                  </a:txBody>
                  <a:tcPr marL="0" marR="0" marT="0" marB="0" anchor="ctr" anchorCtr="0"/>
                </a:tc>
                <a:tc>
                  <a:txBody>
                    <a:bodyPr/>
                    <a:p>
                      <a:r>
                        <a:rPr sz="2400"/>
                        <a:t>MySQL / PostgreSQL</a:t>
                      </a:r>
                      <a:endParaRPr sz="2400"/>
                    </a:p>
                  </a:txBody>
                  <a:tcPr marL="0" marR="0" marT="0" marB="0" anchor="ctr" anchorCtr="0"/>
                </a:tc>
              </a:tr>
              <a:tr h="378460">
                <a:tc>
                  <a:txBody>
                    <a:bodyPr/>
                    <a:p>
                      <a:r>
                        <a:rPr sz="2400"/>
                        <a:t>Data Processing</a:t>
                      </a:r>
                      <a:endParaRPr sz="2400"/>
                    </a:p>
                  </a:txBody>
                  <a:tcPr marL="0" marR="0" marT="0" marB="0" anchor="ctr" anchorCtr="0"/>
                </a:tc>
                <a:tc>
                  <a:txBody>
                    <a:bodyPr/>
                    <a:p>
                      <a:r>
                        <a:rPr sz="2400"/>
                        <a:t>Python</a:t>
                      </a:r>
                      <a:endParaRPr sz="2400"/>
                    </a:p>
                  </a:txBody>
                  <a:tcPr marL="0" marR="0" marT="0" marB="0" anchor="ctr" anchorCtr="0"/>
                </a:tc>
              </a:tr>
              <a:tr h="378460">
                <a:tc>
                  <a:txBody>
                    <a:bodyPr/>
                    <a:p>
                      <a:r>
                        <a:rPr sz="2400"/>
                        <a:t>AI/ML</a:t>
                      </a:r>
                      <a:endParaRPr sz="2400"/>
                    </a:p>
                  </a:txBody>
                  <a:tcPr marL="0" marR="0" marT="0" marB="0" anchor="ctr" anchorCtr="0"/>
                </a:tc>
                <a:tc>
                  <a:txBody>
                    <a:bodyPr/>
                    <a:p>
                      <a:r>
                        <a:rPr sz="2400"/>
                        <a:t>Python, Scikit-learn</a:t>
                      </a:r>
                      <a:endParaRPr sz="2400"/>
                    </a:p>
                  </a:txBody>
                  <a:tcPr marL="0" marR="0" marT="0" marB="0" anchor="ctr" anchorCtr="0"/>
                </a:tc>
              </a:tr>
              <a:tr h="378460">
                <a:tc>
                  <a:txBody>
                    <a:bodyPr/>
                    <a:p>
                      <a:r>
                        <a:rPr sz="2400"/>
                        <a:t>Dashboard</a:t>
                      </a:r>
                      <a:endParaRPr sz="2400"/>
                    </a:p>
                  </a:txBody>
                  <a:tcPr marL="0" marR="0" marT="0" marB="0" anchor="ctr" anchorCtr="0"/>
                </a:tc>
                <a:tc>
                  <a:txBody>
                    <a:bodyPr/>
                    <a:p>
                      <a:r>
                        <a:rPr sz="2400"/>
                        <a:t>Web-based Admin Dashboard</a:t>
                      </a:r>
                      <a:endParaRPr sz="2400"/>
                    </a:p>
                  </a:txBody>
                  <a:tcPr marL="0" marR="0" marT="0" marB="0" anchor="ctr" anchorCtr="0"/>
                </a:tc>
              </a:tr>
              <a:tr h="378460">
                <a:tc>
                  <a:txBody>
                    <a:bodyPr/>
                    <a:p>
                      <a:r>
                        <a:rPr sz="2400"/>
                        <a:t>Development</a:t>
                      </a:r>
                      <a:endParaRPr sz="2400"/>
                    </a:p>
                  </a:txBody>
                  <a:tcPr marL="0" marR="0" marT="0" marB="0" anchor="ctr" anchorCtr="0"/>
                </a:tc>
                <a:tc>
                  <a:txBody>
                    <a:bodyPr/>
                    <a:p>
                      <a:r>
                        <a:rPr sz="2400"/>
                        <a:t>VS Code / PyCharm</a:t>
                      </a:r>
                      <a:endParaRPr sz="2400"/>
                    </a:p>
                  </a:txBody>
                  <a:tcPr marL="0" marR="0" marT="0" marB="0" anchor="ctr" anchorCtr="0"/>
                </a:tc>
              </a:tr>
              <a:tr h="378460">
                <a:tc>
                  <a:txBody>
                    <a:bodyPr/>
                    <a:p>
                      <a:r>
                        <a:rPr sz="2400"/>
                        <a:t>Version Control</a:t>
                      </a:r>
                      <a:endParaRPr sz="2400"/>
                    </a:p>
                  </a:txBody>
                  <a:tcPr marL="0" marR="0" marT="0" marB="0" anchor="ctr" anchorCtr="0"/>
                </a:tc>
                <a:tc>
                  <a:txBody>
                    <a:bodyPr/>
                    <a:p>
                      <a:r>
                        <a:rPr sz="2400"/>
                        <a:t>Git &amp; GitHub</a:t>
                      </a:r>
                      <a:endParaRPr sz="2400"/>
                    </a:p>
                  </a:txBody>
                  <a:tcPr marL="0" marR="0" marT="0" marB="0" anchor="ctr" anchorCtr="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15380" y="551058"/>
            <a:ext cx="7234014" cy="706755"/>
          </a:xfrm>
          <a:prstGeom prst="rect">
            <a:avLst/>
          </a:prstGeom>
          <a:noFill/>
        </p:spPr>
        <p:txBody>
          <a:bodyPr wrap="square">
            <a:spAutoFit/>
          </a:bodyPr>
          <a:lstStyle/>
          <a:p>
            <a:pPr algn="ctr"/>
            <a:r>
              <a:rPr lang="en-US" sz="4000" b="1" dirty="0"/>
              <a:t>OutCome</a:t>
            </a:r>
            <a:endParaRPr lang="en-US" sz="4000" b="1" dirty="0"/>
          </a:p>
        </p:txBody>
      </p:sp>
      <p:pic>
        <p:nvPicPr>
          <p:cNvPr id="4" name="Picture 3"/>
          <p:cNvPicPr>
            <a:picLocks noChangeAspect="1"/>
          </p:cNvPicPr>
          <p:nvPr/>
        </p:nvPicPr>
        <p:blipFill>
          <a:blip r:embed="rId1"/>
          <a:stretch>
            <a:fillRect/>
          </a:stretch>
        </p:blipFill>
        <p:spPr>
          <a:xfrm>
            <a:off x="10249380" y="0"/>
            <a:ext cx="1942620" cy="622550"/>
          </a:xfrm>
          <a:prstGeom prst="rect">
            <a:avLst/>
          </a:prstGeom>
        </p:spPr>
      </p:pic>
      <p:sp>
        <p:nvSpPr>
          <p:cNvPr id="3" name="Text Box 2"/>
          <p:cNvSpPr txBox="1"/>
          <p:nvPr/>
        </p:nvSpPr>
        <p:spPr>
          <a:xfrm>
            <a:off x="1007745" y="1257935"/>
            <a:ext cx="5080000" cy="2361565"/>
          </a:xfrm>
          <a:prstGeom prst="rect">
            <a:avLst/>
          </a:prstGeom>
        </p:spPr>
        <p:txBody>
          <a:bodyPr wrap="square">
            <a:spAutoFit/>
          </a:bodyPr>
          <a:p>
            <a:pPr>
              <a:spcAft>
                <a:spcPct val="60000"/>
              </a:spcAft>
            </a:pPr>
            <a:r>
              <a:rPr sz="2200" b="1"/>
              <a:t>Output</a:t>
            </a:r>
            <a:endParaRPr sz="2200" b="1"/>
          </a:p>
          <a:p>
            <a:pPr>
              <a:buFont typeface="Arial" panose="020B0604020202020204"/>
              <a:buChar char="•"/>
            </a:pPr>
            <a:r>
              <a:t> Resource utilization information </a:t>
            </a:r>
          </a:p>
          <a:p>
            <a:pPr>
              <a:buFont typeface="Arial" panose="020B0604020202020204"/>
              <a:buChar char="•"/>
            </a:pPr>
            <a:r>
              <a:t> Usage analysis </a:t>
            </a:r>
          </a:p>
          <a:p>
            <a:pPr>
              <a:buFont typeface="Arial" panose="020B0604020202020204"/>
              <a:buChar char="•"/>
            </a:pPr>
            <a:r>
              <a:t> Availability status </a:t>
            </a:r>
          </a:p>
          <a:p>
            <a:pPr>
              <a:buFont typeface="Arial" panose="020B0604020202020204"/>
              <a:buChar char="•"/>
            </a:pPr>
            <a:r>
              <a:t> Energy usage insights </a:t>
            </a:r>
          </a:p>
          <a:p>
            <a:pPr>
              <a:buFont typeface="Arial" panose="020B0604020202020204"/>
              <a:buChar char="•"/>
            </a:pPr>
            <a:r>
              <a:t> AI recommendations </a:t>
            </a:r>
          </a:p>
          <a:p>
            <a:pPr>
              <a:buFont typeface="Arial" panose="020B0604020202020204"/>
              <a:buChar char="•"/>
            </a:pPr>
            <a:r>
              <a:t> Better resource allocation decisions</a:t>
            </a:r>
          </a:p>
        </p:txBody>
      </p:sp>
      <p:sp>
        <p:nvSpPr>
          <p:cNvPr id="6" name="Text Box 5"/>
          <p:cNvSpPr txBox="1"/>
          <p:nvPr/>
        </p:nvSpPr>
        <p:spPr>
          <a:xfrm>
            <a:off x="1007745" y="4038600"/>
            <a:ext cx="10632440" cy="2306955"/>
          </a:xfrm>
          <a:prstGeom prst="rect">
            <a:avLst/>
          </a:prstGeom>
        </p:spPr>
        <p:txBody>
          <a:bodyPr wrap="square">
            <a:spAutoFit/>
          </a:bodyPr>
          <a:p>
            <a:r>
              <a:t>Campus IQ is expected to help institutions:</a:t>
            </a:r>
          </a:p>
          <a:p>
            <a:pPr>
              <a:buFont typeface="Arial" panose="020B0604020202020204"/>
              <a:buChar char="•"/>
            </a:pPr>
            <a:r>
              <a:t> Reduce inefficient resource usage. </a:t>
            </a:r>
          </a:p>
          <a:p>
            <a:pPr>
              <a:buFont typeface="Arial" panose="020B0604020202020204"/>
              <a:buChar char="•"/>
            </a:pPr>
            <a:r>
              <a:t> Improve utilization of classrooms and laboratories. </a:t>
            </a:r>
          </a:p>
          <a:p>
            <a:pPr>
              <a:buFont typeface="Arial" panose="020B0604020202020204"/>
              <a:buChar char="•"/>
            </a:pPr>
            <a:r>
              <a:t> Identify underutilized resources. </a:t>
            </a:r>
          </a:p>
          <a:p>
            <a:pPr>
              <a:buFont typeface="Arial" panose="020B0604020202020204"/>
              <a:buChar char="•"/>
            </a:pPr>
            <a:r>
              <a:t> Improve resource allocation. </a:t>
            </a:r>
          </a:p>
          <a:p>
            <a:pPr>
              <a:buFont typeface="Arial" panose="020B0604020202020204"/>
              <a:buChar char="•"/>
            </a:pPr>
            <a:r>
              <a:t> Monitor energy consumption. </a:t>
            </a:r>
          </a:p>
          <a:p>
            <a:pPr>
              <a:buFont typeface="Arial" panose="020B0604020202020204"/>
              <a:buChar char="•"/>
            </a:pPr>
            <a:r>
              <a:t> Support data-driven administrative decisions. </a:t>
            </a:r>
          </a:p>
          <a:p>
            <a:pPr>
              <a:buFont typeface="Arial" panose="020B0604020202020204"/>
              <a:buChar char="•"/>
            </a:pPr>
            <a:r>
              <a:t> Move toward smarter and more efficient campus management. </a:t>
            </a:r>
          </a:p>
        </p:txBody>
      </p:sp>
    </p:spTree>
  </p:cSld>
  <p:clrMapOvr>
    <a:masterClrMapping/>
  </p:clrMapOvr>
</p:sld>
</file>

<file path=ppt/tags/tag1.xml><?xml version="1.0" encoding="utf-8"?>
<p:tagLst xmlns:p="http://schemas.openxmlformats.org/presentationml/2006/main">
  <p:tag name="TABLE_ENDDRAG_ORIGIN_RECT" val="464*110"/>
  <p:tag name="TABLE_ENDDRAG_RECT" val="-62*373*464*110"/>
</p:tagLst>
</file>

<file path=ppt/tags/tag2.xml><?xml version="1.0" encoding="utf-8"?>
<p:tagLst xmlns:p="http://schemas.openxmlformats.org/presentationml/2006/main">
  <p:tag name="TABLE_ENDDRAG_ORIGIN_RECT" val="708*298"/>
  <p:tag name="TABLE_ENDDRAG_RECT" val="85*141*708*29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2636</Words>
  <Application>WPS Presentation</Application>
  <PresentationFormat>Widescreen</PresentationFormat>
  <Paragraphs>101</Paragraphs>
  <Slides>7</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vt:i4>
      </vt:variant>
    </vt:vector>
  </HeadingPairs>
  <TitlesOfParts>
    <vt:vector size="24" baseType="lpstr">
      <vt:lpstr>Arial</vt:lpstr>
      <vt:lpstr>SimSun</vt:lpstr>
      <vt:lpstr>Wingdings</vt:lpstr>
      <vt:lpstr>Times New Roman</vt:lpstr>
      <vt:lpstr>Cambria</vt:lpstr>
      <vt:lpstr>Arial</vt:lpstr>
      <vt:lpstr>Calibri</vt:lpstr>
      <vt:lpstr>Poppins</vt:lpstr>
      <vt:lpstr>Segoe Print</vt:lpstr>
      <vt:lpstr>Aptos</vt:lpstr>
      <vt:lpstr>Segoe UI</vt:lpstr>
      <vt:lpstr>Microsoft YaHei</vt:lpstr>
      <vt:lpstr>Arial Unicode MS</vt:lpstr>
      <vt:lpstr>Aptos Display</vt:lpstr>
      <vt:lpstr>Segoe UI Variable Display</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DONTHI REDDY KRISHNA CHAITANYA 2420090077</cp:lastModifiedBy>
  <cp:revision>35</cp:revision>
  <dcterms:created xsi:type="dcterms:W3CDTF">2026-08-08T06:33:00Z</dcterms:created>
  <dcterms:modified xsi:type="dcterms:W3CDTF">2026-09-23T05:46:16Z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C4317A0A35E34AFDB8FF6DA00C852B0E_12</vt:lpwstr>
  </property>
  <property fmtid="{D5CDD505-2E9C-101B-9397-08002B2CF9AE}" pid="3" name="KSOProductBuildVer">
    <vt:lpwstr>1033-12.1.0.29162</vt:lpwstr>
  </property>
</Properties>
</file>